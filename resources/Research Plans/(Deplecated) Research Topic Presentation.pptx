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serrat Ultra-Bold" charset="1" panose="00000900000000000000"/>
      <p:regular r:id="rId23"/>
    </p:embeddedFont>
    <p:embeddedFont>
      <p:font typeface="Montserrat Italics" charset="1" panose="00000500000000000000"/>
      <p:regular r:id="rId24"/>
    </p:embeddedFont>
    <p:embeddedFont>
      <p:font typeface="Canva Sans" charset="1" panose="020B0503030501040103"/>
      <p:regular r:id="rId25"/>
    </p:embeddedFont>
    <p:embeddedFont>
      <p:font typeface="Pridi Bold" charset="1" panose="00000800000000000000"/>
      <p:regular r:id="rId26"/>
    </p:embeddedFont>
    <p:embeddedFont>
      <p:font typeface="Chonburi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06492" y="-2564158"/>
            <a:ext cx="1363016" cy="6894949"/>
            <a:chOff x="0" y="0"/>
            <a:chExt cx="358984" cy="1815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4AAD"/>
            </a:solidFill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22695" y="2163693"/>
            <a:ext cx="13842610" cy="81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0"/>
              </a:lnSpc>
            </a:pPr>
            <a:r>
              <a:rPr lang="en-US" b="true" sz="6091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Introduction and Research Topic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6450" y="8925137"/>
            <a:ext cx="5042850" cy="116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3"/>
              </a:lnSpc>
            </a:pPr>
            <a:r>
              <a:rPr lang="en-US" sz="3073" i="true">
                <a:solidFill>
                  <a:srgbClr val="261CE6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Summer Research Internship</a:t>
            </a:r>
          </a:p>
          <a:p>
            <a:pPr algn="r">
              <a:lnSpc>
                <a:spcPts val="3073"/>
              </a:lnSpc>
            </a:pPr>
            <a:r>
              <a:rPr lang="en-US" sz="3073" i="true">
                <a:solidFill>
                  <a:srgbClr val="261CE6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KAIST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34316" y="6570485"/>
            <a:ext cx="1363016" cy="4524008"/>
            <a:chOff x="0" y="0"/>
            <a:chExt cx="358984" cy="1191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500549" y="4949178"/>
            <a:ext cx="11556432" cy="62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Poopha Suwananek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65784" y="6551737"/>
            <a:ext cx="11556432" cy="12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Supervisor</a:t>
            </a: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Prof. Min Suk Kang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06492" y="-2564158"/>
            <a:ext cx="1363016" cy="6894949"/>
            <a:chOff x="0" y="0"/>
            <a:chExt cx="358984" cy="1815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4AAD"/>
            </a:solidFill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3555521" y="680771"/>
            <a:ext cx="13842610" cy="81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0"/>
              </a:lnSpc>
            </a:pPr>
            <a:r>
              <a:rPr lang="en-US" b="true" sz="6091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6450" y="8925137"/>
            <a:ext cx="5042850" cy="1163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3"/>
              </a:lnSpc>
            </a:pPr>
            <a:r>
              <a:rPr lang="en-US" sz="3073" i="true">
                <a:solidFill>
                  <a:srgbClr val="261CE6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Summer Research Internship</a:t>
            </a:r>
          </a:p>
          <a:p>
            <a:pPr algn="r">
              <a:lnSpc>
                <a:spcPts val="3073"/>
              </a:lnSpc>
            </a:pPr>
            <a:r>
              <a:rPr lang="en-US" sz="3073" i="true">
                <a:solidFill>
                  <a:srgbClr val="261CE6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KAIST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34316" y="6570485"/>
            <a:ext cx="1363016" cy="4524008"/>
            <a:chOff x="0" y="0"/>
            <a:chExt cx="358984" cy="1191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65784" y="3260916"/>
            <a:ext cx="11556432" cy="12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Poopha Suwananek: 3rd Year Computer Engineering Student at Chula-longkorn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65784" y="7018835"/>
            <a:ext cx="11556432" cy="12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Supervisor: </a:t>
            </a:r>
            <a:r>
              <a:rPr lang="en-US" sz="3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Prof. Min Suk Kang</a:t>
            </a: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6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Lab: Network Security and Privacy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1101344" y="6384331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77999" y="4320168"/>
            <a:ext cx="15332002" cy="5308706"/>
          </a:xfrm>
          <a:custGeom>
            <a:avLst/>
            <a:gdLst/>
            <a:ahLst/>
            <a:cxnLst/>
            <a:rect r="r" b="b" t="t" l="l"/>
            <a:pathLst>
              <a:path h="5308706" w="15332002">
                <a:moveTo>
                  <a:pt x="0" y="0"/>
                </a:moveTo>
                <a:lnTo>
                  <a:pt x="15332002" y="0"/>
                </a:lnTo>
                <a:lnTo>
                  <a:pt x="15332002" y="5308706"/>
                </a:lnTo>
                <a:lnTo>
                  <a:pt x="0" y="530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Research Topic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7729" y="2335579"/>
            <a:ext cx="11292542" cy="188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The incoporation of Quantum Key Distribution (QKD) within TLS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1101344" y="6384331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14976" y="1991192"/>
            <a:ext cx="11458048" cy="6304616"/>
          </a:xfrm>
          <a:custGeom>
            <a:avLst/>
            <a:gdLst/>
            <a:ahLst/>
            <a:cxnLst/>
            <a:rect r="r" b="b" t="t" l="l"/>
            <a:pathLst>
              <a:path h="6304616" w="11458048">
                <a:moveTo>
                  <a:pt x="0" y="0"/>
                </a:moveTo>
                <a:lnTo>
                  <a:pt x="11458048" y="0"/>
                </a:lnTo>
                <a:lnTo>
                  <a:pt x="11458048" y="6304616"/>
                </a:lnTo>
                <a:lnTo>
                  <a:pt x="0" y="6304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09" t="0" r="0" b="-15802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Transport Layer Security (TLS)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1101344" y="6384331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99254" y="2325626"/>
            <a:ext cx="11889492" cy="5635747"/>
          </a:xfrm>
          <a:custGeom>
            <a:avLst/>
            <a:gdLst/>
            <a:ahLst/>
            <a:cxnLst/>
            <a:rect r="r" b="b" t="t" l="l"/>
            <a:pathLst>
              <a:path h="5635747" w="11889492">
                <a:moveTo>
                  <a:pt x="0" y="0"/>
                </a:moveTo>
                <a:lnTo>
                  <a:pt x="11889492" y="0"/>
                </a:lnTo>
                <a:lnTo>
                  <a:pt x="11889492" y="5635748"/>
                </a:lnTo>
                <a:lnTo>
                  <a:pt x="0" y="5635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10" t="-122051" r="-7301" b="-9850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Transport Layer Security (TLS)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091790"/>
            <a:ext cx="124491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E4030E"/>
                </a:solidFill>
                <a:latin typeface="Pridi Bold"/>
                <a:ea typeface="Pridi Bold"/>
                <a:cs typeface="Pridi Bold"/>
                <a:sym typeface="Pridi Bold"/>
              </a:rPr>
              <a:t>RSA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1101344" y="6384331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12594" y="2559354"/>
            <a:ext cx="11462812" cy="5168292"/>
          </a:xfrm>
          <a:custGeom>
            <a:avLst/>
            <a:gdLst/>
            <a:ahLst/>
            <a:cxnLst/>
            <a:rect r="r" b="b" t="t" l="l"/>
            <a:pathLst>
              <a:path h="5168292" w="11462812">
                <a:moveTo>
                  <a:pt x="0" y="0"/>
                </a:moveTo>
                <a:lnTo>
                  <a:pt x="11462812" y="0"/>
                </a:lnTo>
                <a:lnTo>
                  <a:pt x="11462812" y="5168292"/>
                </a:lnTo>
                <a:lnTo>
                  <a:pt x="0" y="5168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3" t="-230261" r="-7797" b="-392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Transport Layer Security (TLS)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89012" y="1798481"/>
            <a:ext cx="11301259" cy="4264266"/>
          </a:xfrm>
          <a:custGeom>
            <a:avLst/>
            <a:gdLst/>
            <a:ahLst/>
            <a:cxnLst/>
            <a:rect r="r" b="b" t="t" l="l"/>
            <a:pathLst>
              <a:path h="4264266" w="11301259">
                <a:moveTo>
                  <a:pt x="0" y="0"/>
                </a:moveTo>
                <a:lnTo>
                  <a:pt x="11301259" y="0"/>
                </a:lnTo>
                <a:lnTo>
                  <a:pt x="11301259" y="4264266"/>
                </a:lnTo>
                <a:lnTo>
                  <a:pt x="0" y="42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229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RSA Asymetric Encryption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78972" y="7095819"/>
            <a:ext cx="8921338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Can theoretically be broken by Shor’s Algorithm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849985" y="2262364"/>
            <a:ext cx="14588030" cy="5762272"/>
          </a:xfrm>
          <a:custGeom>
            <a:avLst/>
            <a:gdLst/>
            <a:ahLst/>
            <a:cxnLst/>
            <a:rect r="r" b="b" t="t" l="l"/>
            <a:pathLst>
              <a:path h="5762272" w="14588030">
                <a:moveTo>
                  <a:pt x="0" y="0"/>
                </a:moveTo>
                <a:lnTo>
                  <a:pt x="14588030" y="0"/>
                </a:lnTo>
                <a:lnTo>
                  <a:pt x="14588030" y="5762272"/>
                </a:lnTo>
                <a:lnTo>
                  <a:pt x="0" y="576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849985" y="2414764"/>
            <a:ext cx="14588030" cy="5762272"/>
          </a:xfrm>
          <a:custGeom>
            <a:avLst/>
            <a:gdLst/>
            <a:ahLst/>
            <a:cxnLst/>
            <a:rect r="r" b="b" t="t" l="l"/>
            <a:pathLst>
              <a:path h="5762272" w="14588030">
                <a:moveTo>
                  <a:pt x="0" y="0"/>
                </a:moveTo>
                <a:lnTo>
                  <a:pt x="14588030" y="0"/>
                </a:lnTo>
                <a:lnTo>
                  <a:pt x="14588030" y="5762272"/>
                </a:lnTo>
                <a:lnTo>
                  <a:pt x="0" y="5762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72742" y="1392302"/>
            <a:ext cx="8342516" cy="8360380"/>
          </a:xfrm>
          <a:custGeom>
            <a:avLst/>
            <a:gdLst/>
            <a:ahLst/>
            <a:cxnLst/>
            <a:rect r="r" b="b" t="t" l="l"/>
            <a:pathLst>
              <a:path h="8360380" w="8342516">
                <a:moveTo>
                  <a:pt x="0" y="0"/>
                </a:moveTo>
                <a:lnTo>
                  <a:pt x="8342516" y="0"/>
                </a:lnTo>
                <a:lnTo>
                  <a:pt x="8342516" y="8360380"/>
                </a:lnTo>
                <a:lnTo>
                  <a:pt x="0" y="836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736" y="2134190"/>
            <a:ext cx="415000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1000101011010100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736" y="2893033"/>
            <a:ext cx="4150006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HHXHXXXHXHXXXXXX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97729" y="7318900"/>
            <a:ext cx="11708176" cy="731761"/>
          </a:xfrm>
          <a:custGeom>
            <a:avLst/>
            <a:gdLst/>
            <a:ahLst/>
            <a:cxnLst/>
            <a:rect r="r" b="b" t="t" l="l"/>
            <a:pathLst>
              <a:path h="731761" w="11708176">
                <a:moveTo>
                  <a:pt x="0" y="0"/>
                </a:moveTo>
                <a:lnTo>
                  <a:pt x="11708176" y="0"/>
                </a:lnTo>
                <a:lnTo>
                  <a:pt x="11708176" y="731761"/>
                </a:lnTo>
                <a:lnTo>
                  <a:pt x="0" y="73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20645" y="2788966"/>
            <a:ext cx="5684809" cy="65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1000101011010100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01595" y="4232748"/>
            <a:ext cx="5684809" cy="54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150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HHXHXXXHXHXXXXXX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163050" y="5502874"/>
            <a:ext cx="0" cy="14826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72742" y="1392302"/>
            <a:ext cx="8342516" cy="8360380"/>
          </a:xfrm>
          <a:custGeom>
            <a:avLst/>
            <a:gdLst/>
            <a:ahLst/>
            <a:cxnLst/>
            <a:rect r="r" b="b" t="t" l="l"/>
            <a:pathLst>
              <a:path h="8360380" w="8342516">
                <a:moveTo>
                  <a:pt x="0" y="0"/>
                </a:moveTo>
                <a:lnTo>
                  <a:pt x="8342516" y="0"/>
                </a:lnTo>
                <a:lnTo>
                  <a:pt x="8342516" y="8360380"/>
                </a:lnTo>
                <a:lnTo>
                  <a:pt x="0" y="836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97156" y="3612860"/>
            <a:ext cx="6893688" cy="430856"/>
          </a:xfrm>
          <a:custGeom>
            <a:avLst/>
            <a:gdLst/>
            <a:ahLst/>
            <a:cxnLst/>
            <a:rect r="r" b="b" t="t" l="l"/>
            <a:pathLst>
              <a:path h="430856" w="6893688">
                <a:moveTo>
                  <a:pt x="0" y="0"/>
                </a:moveTo>
                <a:lnTo>
                  <a:pt x="6893688" y="0"/>
                </a:lnTo>
                <a:lnTo>
                  <a:pt x="6893688" y="430855"/>
                </a:lnTo>
                <a:lnTo>
                  <a:pt x="0" y="430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308962" y="2399974"/>
            <a:ext cx="11708176" cy="731761"/>
          </a:xfrm>
          <a:custGeom>
            <a:avLst/>
            <a:gdLst/>
            <a:ahLst/>
            <a:cxnLst/>
            <a:rect r="r" b="b" t="t" l="l"/>
            <a:pathLst>
              <a:path h="731761" w="11708176">
                <a:moveTo>
                  <a:pt x="0" y="0"/>
                </a:moveTo>
                <a:lnTo>
                  <a:pt x="11708176" y="0"/>
                </a:lnTo>
                <a:lnTo>
                  <a:pt x="11708176" y="731761"/>
                </a:lnTo>
                <a:lnTo>
                  <a:pt x="0" y="73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163050" y="5502874"/>
            <a:ext cx="0" cy="14826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6261894" y="3993772"/>
            <a:ext cx="57642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XHHHXHXHXHXHHHXH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41297" y="7842775"/>
            <a:ext cx="5684809" cy="65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1000101011010100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72742" y="1392302"/>
            <a:ext cx="8342516" cy="8360380"/>
          </a:xfrm>
          <a:custGeom>
            <a:avLst/>
            <a:gdLst/>
            <a:ahLst/>
            <a:cxnLst/>
            <a:rect r="r" b="b" t="t" l="l"/>
            <a:pathLst>
              <a:path h="8360380" w="8342516">
                <a:moveTo>
                  <a:pt x="0" y="0"/>
                </a:moveTo>
                <a:lnTo>
                  <a:pt x="8342516" y="0"/>
                </a:lnTo>
                <a:lnTo>
                  <a:pt x="8342516" y="8360380"/>
                </a:lnTo>
                <a:lnTo>
                  <a:pt x="0" y="836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97156" y="3612860"/>
            <a:ext cx="6893688" cy="430856"/>
          </a:xfrm>
          <a:custGeom>
            <a:avLst/>
            <a:gdLst/>
            <a:ahLst/>
            <a:cxnLst/>
            <a:rect r="r" b="b" t="t" l="l"/>
            <a:pathLst>
              <a:path h="430856" w="6893688">
                <a:moveTo>
                  <a:pt x="0" y="0"/>
                </a:moveTo>
                <a:lnTo>
                  <a:pt x="6893688" y="0"/>
                </a:lnTo>
                <a:lnTo>
                  <a:pt x="6893688" y="430855"/>
                </a:lnTo>
                <a:lnTo>
                  <a:pt x="0" y="430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3372636" y="4250366"/>
            <a:ext cx="423687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XHHHXHXHXHXHHHXH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48668" y="4915535"/>
            <a:ext cx="568480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1000101011010100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11975" y="1392302"/>
            <a:ext cx="8342516" cy="8360380"/>
          </a:xfrm>
          <a:custGeom>
            <a:avLst/>
            <a:gdLst/>
            <a:ahLst/>
            <a:cxnLst/>
            <a:rect r="r" b="b" t="t" l="l"/>
            <a:pathLst>
              <a:path h="8360380" w="8342516">
                <a:moveTo>
                  <a:pt x="0" y="0"/>
                </a:moveTo>
                <a:lnTo>
                  <a:pt x="8342516" y="0"/>
                </a:lnTo>
                <a:lnTo>
                  <a:pt x="8342516" y="8360380"/>
                </a:lnTo>
                <a:lnTo>
                  <a:pt x="0" y="836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97156" y="3612860"/>
            <a:ext cx="6893688" cy="430856"/>
          </a:xfrm>
          <a:custGeom>
            <a:avLst/>
            <a:gdLst/>
            <a:ahLst/>
            <a:cxnLst/>
            <a:rect r="r" b="b" t="t" l="l"/>
            <a:pathLst>
              <a:path h="430856" w="6893688">
                <a:moveTo>
                  <a:pt x="0" y="0"/>
                </a:moveTo>
                <a:lnTo>
                  <a:pt x="6893688" y="0"/>
                </a:lnTo>
                <a:lnTo>
                  <a:pt x="6893688" y="430855"/>
                </a:lnTo>
                <a:lnTo>
                  <a:pt x="0" y="430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3372636" y="4250366"/>
            <a:ext cx="423687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XHHHXHXHXHXHHHXH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48668" y="4915535"/>
            <a:ext cx="568480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1000101011010100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03191" y="5581015"/>
            <a:ext cx="568480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HHXHXXXHXHXXXXXX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5100" y="6335812"/>
            <a:ext cx="4236875" cy="3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XHHHXHXHXHXHHHXH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48867" y="2863252"/>
            <a:ext cx="568480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HHXHXXXHXHXXXXXX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911975" y="3151693"/>
            <a:ext cx="8309197" cy="25533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H="true">
            <a:off x="5043278" y="4516979"/>
            <a:ext cx="8211213" cy="22176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60395" y="2708239"/>
            <a:ext cx="5711471" cy="1995944"/>
          </a:xfrm>
          <a:custGeom>
            <a:avLst/>
            <a:gdLst/>
            <a:ahLst/>
            <a:cxnLst/>
            <a:rect r="r" b="b" t="t" l="l"/>
            <a:pathLst>
              <a:path h="1995944" w="5711471">
                <a:moveTo>
                  <a:pt x="0" y="0"/>
                </a:moveTo>
                <a:lnTo>
                  <a:pt x="5711471" y="0"/>
                </a:lnTo>
                <a:lnTo>
                  <a:pt x="5711471" y="1995945"/>
                </a:lnTo>
                <a:lnTo>
                  <a:pt x="0" y="199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19757" y="5908579"/>
            <a:ext cx="5452109" cy="2168626"/>
          </a:xfrm>
          <a:custGeom>
            <a:avLst/>
            <a:gdLst/>
            <a:ahLst/>
            <a:cxnLst/>
            <a:rect r="r" b="b" t="t" l="l"/>
            <a:pathLst>
              <a:path h="2168626" w="5452109">
                <a:moveTo>
                  <a:pt x="0" y="0"/>
                </a:moveTo>
                <a:lnTo>
                  <a:pt x="5452109" y="0"/>
                </a:lnTo>
                <a:lnTo>
                  <a:pt x="5452109" y="2168626"/>
                </a:lnTo>
                <a:lnTo>
                  <a:pt x="0" y="2168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14742" y="2819116"/>
            <a:ext cx="2913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14742" y="6105797"/>
            <a:ext cx="2913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3145" y="5813329"/>
            <a:ext cx="202390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50%: 0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50%: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79103" y="2819116"/>
            <a:ext cx="2892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=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9103" y="6258197"/>
            <a:ext cx="2892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=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9444" y="2819116"/>
            <a:ext cx="2913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QKD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7700" y="3112943"/>
            <a:ext cx="1447879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Alice and Bob kept only the key bits that has the same </a:t>
            </a:r>
            <a:r>
              <a:rPr lang="en-US" sz="3399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Basis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69593" y="5520581"/>
            <a:ext cx="725007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E4030E"/>
                </a:solidFill>
                <a:latin typeface="Chonburi"/>
                <a:ea typeface="Chonburi"/>
                <a:cs typeface="Chonburi"/>
                <a:sym typeface="Chonburi"/>
              </a:rPr>
              <a:t>XHHHXHXHXHXHHHXH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80119" y="4563636"/>
            <a:ext cx="972776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4AAD"/>
                </a:solidFill>
                <a:latin typeface="Chonburi"/>
                <a:ea typeface="Chonburi"/>
                <a:cs typeface="Chonburi"/>
                <a:sym typeface="Chonburi"/>
              </a:rPr>
              <a:t>HHXHXXXHXHXXXXXX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30751" y="7266831"/>
            <a:ext cx="972776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honburi"/>
                <a:ea typeface="Chonburi"/>
                <a:cs typeface="Chonburi"/>
                <a:sym typeface="Chonburi"/>
              </a:rPr>
              <a:t>H</a:t>
            </a:r>
            <a:r>
              <a:rPr lang="en-US" sz="3999">
                <a:solidFill>
                  <a:srgbClr val="171717"/>
                </a:solidFill>
                <a:latin typeface="Chonburi"/>
                <a:ea typeface="Chonburi"/>
                <a:cs typeface="Chonburi"/>
                <a:sym typeface="Chonburi"/>
              </a:rPr>
              <a:t>H</a:t>
            </a:r>
            <a:r>
              <a:rPr lang="en-US" sz="3999">
                <a:solidFill>
                  <a:srgbClr val="FFFFFF"/>
                </a:solidFill>
                <a:latin typeface="Chonburi"/>
                <a:ea typeface="Chonburi"/>
                <a:cs typeface="Chonburi"/>
                <a:sym typeface="Chonburi"/>
              </a:rPr>
              <a:t>X</a:t>
            </a:r>
            <a:r>
              <a:rPr lang="en-US" sz="3999">
                <a:solidFill>
                  <a:srgbClr val="171717"/>
                </a:solidFill>
                <a:latin typeface="Chonburi"/>
                <a:ea typeface="Chonburi"/>
                <a:cs typeface="Chonburi"/>
                <a:sym typeface="Chonburi"/>
              </a:rPr>
              <a:t>HX</a:t>
            </a:r>
            <a:r>
              <a:rPr lang="en-US" sz="3999">
                <a:solidFill>
                  <a:srgbClr val="FFFFFF"/>
                </a:solidFill>
                <a:latin typeface="Chonburi"/>
                <a:ea typeface="Chonburi"/>
                <a:cs typeface="Chonburi"/>
                <a:sym typeface="Chonburi"/>
              </a:rPr>
              <a:t>X</a:t>
            </a:r>
            <a:r>
              <a:rPr lang="en-US" sz="3999">
                <a:solidFill>
                  <a:srgbClr val="171717"/>
                </a:solidFill>
                <a:latin typeface="Chonburi"/>
                <a:ea typeface="Chonburi"/>
                <a:cs typeface="Chonburi"/>
                <a:sym typeface="Chonburi"/>
              </a:rPr>
              <a:t>XHXHX</a:t>
            </a:r>
            <a:r>
              <a:rPr lang="en-US" sz="3999">
                <a:solidFill>
                  <a:srgbClr val="FFFFFF"/>
                </a:solidFill>
                <a:latin typeface="Chonburi"/>
                <a:ea typeface="Chonburi"/>
                <a:cs typeface="Chonburi"/>
                <a:sym typeface="Chonburi"/>
              </a:rPr>
              <a:t>XXX</a:t>
            </a:r>
            <a:r>
              <a:rPr lang="en-US" sz="3999">
                <a:solidFill>
                  <a:srgbClr val="171717"/>
                </a:solidFill>
                <a:latin typeface="Chonburi"/>
                <a:ea typeface="Chonburi"/>
                <a:cs typeface="Chonburi"/>
                <a:sym typeface="Chonburi"/>
              </a:rPr>
              <a:t>X</a:t>
            </a:r>
            <a:r>
              <a:rPr lang="en-US" sz="3999">
                <a:solidFill>
                  <a:srgbClr val="FFFFFF"/>
                </a:solidFill>
                <a:latin typeface="Chonburi"/>
                <a:ea typeface="Chonburi"/>
                <a:cs typeface="Chonburi"/>
                <a:sym typeface="Chonburi"/>
              </a:rPr>
              <a:t>X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930897" y="6209556"/>
            <a:ext cx="0" cy="1143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6494" y="-2512581"/>
            <a:ext cx="1363016" cy="4524008"/>
            <a:chOff x="0" y="0"/>
            <a:chExt cx="358984" cy="11915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984" cy="1191508"/>
            </a:xfrm>
            <a:custGeom>
              <a:avLst/>
              <a:gdLst/>
              <a:ahLst/>
              <a:cxnLst/>
              <a:rect r="r" b="b" t="t" l="l"/>
              <a:pathLst>
                <a:path h="1191508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2569442" y="6343253"/>
            <a:ext cx="1071054" cy="5418031"/>
            <a:chOff x="0" y="0"/>
            <a:chExt cx="358984" cy="18159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984" cy="1815954"/>
            </a:xfrm>
            <a:custGeom>
              <a:avLst/>
              <a:gdLst/>
              <a:ahLst/>
              <a:cxnLst/>
              <a:rect r="r" b="b" t="t" l="l"/>
              <a:pathLst>
                <a:path h="1815954" w="35898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97729" y="745685"/>
            <a:ext cx="11292542" cy="6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true" sz="4959">
                <a:solidFill>
                  <a:srgbClr val="004AAD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Goal Of The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3960" y="2086097"/>
            <a:ext cx="15660080" cy="643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QKD can prevent eavesdropping of the key via the “no cloning theorem”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But it still has other </a:t>
            </a:r>
            <a:r>
              <a:rPr lang="en-US" sz="5199" b="true">
                <a:solidFill>
                  <a:srgbClr val="E4030E"/>
                </a:solidFill>
                <a:latin typeface="Pridi Bold"/>
                <a:ea typeface="Pridi Bold"/>
                <a:cs typeface="Pridi Bold"/>
                <a:sym typeface="Pridi Bold"/>
              </a:rPr>
              <a:t>disadvantages </a:t>
            </a:r>
            <a:r>
              <a:rPr lang="en-US" sz="5199" b="true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such as a man in the middle attack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4AAD"/>
                </a:solidFill>
                <a:latin typeface="Pridi Bold"/>
                <a:ea typeface="Pridi Bold"/>
                <a:cs typeface="Pridi Bold"/>
                <a:sym typeface="Pridi Bold"/>
              </a:rPr>
              <a:t>That’s why it’s needed to be incorporated within TLS (Authentication, Key management, etc.)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DAGn5kBItME</dc:identifier>
  <dcterms:modified xsi:type="dcterms:W3CDTF">2011-08-01T06:04:30Z</dcterms:modified>
  <cp:revision>1</cp:revision>
  <dc:title>ECTI 2025 QC Paper Presentation</dc:title>
</cp:coreProperties>
</file>